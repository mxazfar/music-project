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20"/>
  </p:notesMasterIdLst>
  <p:sldIdLst>
    <p:sldId id="268" r:id="rId2"/>
    <p:sldId id="271" r:id="rId3"/>
    <p:sldId id="272" r:id="rId4"/>
    <p:sldId id="273" r:id="rId5"/>
    <p:sldId id="274" r:id="rId6"/>
    <p:sldId id="281" r:id="rId7"/>
    <p:sldId id="269" r:id="rId8"/>
    <p:sldId id="270" r:id="rId9"/>
    <p:sldId id="275" r:id="rId10"/>
    <p:sldId id="276" r:id="rId11"/>
    <p:sldId id="282" r:id="rId12"/>
    <p:sldId id="283" r:id="rId13"/>
    <p:sldId id="277" r:id="rId14"/>
    <p:sldId id="278" r:id="rId15"/>
    <p:sldId id="279" r:id="rId16"/>
    <p:sldId id="280" r:id="rId17"/>
    <p:sldId id="284" r:id="rId18"/>
    <p:sldId id="285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63"/>
  </p:normalViewPr>
  <p:slideViewPr>
    <p:cSldViewPr snapToGrid="0" snapToObjects="1">
      <p:cViewPr varScale="1">
        <p:scale>
          <a:sx n="117" d="100"/>
          <a:sy n="117" d="100"/>
        </p:scale>
        <p:origin x="3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471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9757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98982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81300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4846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31417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082643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6" r:id="rId2"/>
    <p:sldLayoutId id="2147483667" r:id="rId3"/>
    <p:sldLayoutId id="2147483668" r:id="rId4"/>
    <p:sldLayoutId id="2147483669" r:id="rId5"/>
    <p:sldLayoutId id="2147483670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"/>
          <p:cNvSpPr txBox="1"/>
          <p:nvPr/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Oswald"/>
              <a:buNone/>
              <a:tabLst/>
              <a:defRPr/>
            </a:pPr>
            <a:r>
              <a:rPr kumimoji="0" lang="en-US" sz="8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"/>
                <a:ea typeface="Oswald"/>
                <a:cs typeface="Oswald"/>
                <a:sym typeface="Oswald"/>
              </a:rPr>
              <a:t>Frequency Domain Analysis of Fine and Inexpensive Instruments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0" name="Google Shape;160;p1"/>
          <p:cNvSpPr txBox="1"/>
          <p:nvPr/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tabLst/>
              <a:defRPr/>
            </a:pPr>
            <a:r>
              <a:rPr lang="en-US" sz="3600" dirty="0" err="1">
                <a:solidFill>
                  <a:srgbClr val="FFFFFF"/>
                </a:solidFill>
              </a:rPr>
              <a:t>Moosa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r>
              <a:rPr lang="en-US" sz="3600" dirty="0" err="1">
                <a:solidFill>
                  <a:srgbClr val="FFFFFF"/>
                </a:solidFill>
              </a:rPr>
              <a:t>Azfar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DDE4F-96DD-E54F-81F1-C2DA7A318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 Processing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6CD56-5477-504B-93B1-3530F699EC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signal processing?</a:t>
            </a:r>
          </a:p>
          <a:p>
            <a:r>
              <a:rPr lang="en-US" dirty="0"/>
              <a:t>What are its applications?</a:t>
            </a:r>
          </a:p>
          <a:p>
            <a:r>
              <a:rPr lang="en-US" dirty="0"/>
              <a:t>To discuss signal processing, we must define a “signal”</a:t>
            </a:r>
          </a:p>
          <a:p>
            <a:pPr lvl="1"/>
            <a:r>
              <a:rPr lang="en-US" dirty="0"/>
              <a:t>A signal is a function that varies over space and time</a:t>
            </a:r>
          </a:p>
          <a:p>
            <a:r>
              <a:rPr lang="en-US" dirty="0"/>
              <a:t>It makes sense to discuss music in the context of signal processing because of this definition</a:t>
            </a:r>
          </a:p>
        </p:txBody>
      </p:sp>
    </p:spTree>
    <p:extLst>
      <p:ext uri="{BB962C8B-B14F-4D97-AF65-F5344CB8AC3E}">
        <p14:creationId xmlns:p14="http://schemas.microsoft.com/office/powerpoint/2010/main" val="3818794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DDE4F-96DD-E54F-81F1-C2DA7A318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 Processing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6CD56-5477-504B-93B1-3530F699EC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Signals can contain information in both the “time domain” and “frequency domain”</a:t>
            </a:r>
          </a:p>
          <a:p>
            <a:r>
              <a:rPr lang="en-US" dirty="0"/>
              <a:t>The time domain represents how the signal changes as time progress</a:t>
            </a:r>
          </a:p>
          <a:p>
            <a:r>
              <a:rPr lang="en-US" dirty="0"/>
              <a:t>The frequency domain represents what frequencies the signal is comprised of</a:t>
            </a:r>
          </a:p>
          <a:p>
            <a:r>
              <a:rPr lang="en-US" dirty="0"/>
              <a:t>In the context of music, both concepts work in tandem</a:t>
            </a:r>
          </a:p>
        </p:txBody>
      </p:sp>
    </p:spTree>
    <p:extLst>
      <p:ext uri="{BB962C8B-B14F-4D97-AF65-F5344CB8AC3E}">
        <p14:creationId xmlns:p14="http://schemas.microsoft.com/office/powerpoint/2010/main" val="3974037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DDE4F-96DD-E54F-81F1-C2DA7A318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 Processing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6CD56-5477-504B-93B1-3530F699EC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focus of this project is on frequency domain analysis of violins </a:t>
            </a:r>
          </a:p>
          <a:p>
            <a:r>
              <a:rPr lang="en-US" dirty="0"/>
              <a:t>In the real world, signals are recorded in the time domain, represented as a series of amplitudes that fluctuate as time progresses</a:t>
            </a:r>
          </a:p>
          <a:p>
            <a:r>
              <a:rPr lang="en-US" dirty="0"/>
              <a:t>One of the aspects of signal processing focuses on turning this time domain data into frequency domain data</a:t>
            </a:r>
          </a:p>
          <a:p>
            <a:r>
              <a:rPr lang="en-US" dirty="0"/>
              <a:t>One method to transform time domain data into frequency domain data is the Fourier Transform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684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DDE4F-96DD-E54F-81F1-C2DA7A318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 Processing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6CD56-5477-504B-93B1-3530F699EC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Fourier Transform is a function that takes in time domain data as an input and returns frequency content of the signal.</a:t>
            </a:r>
          </a:p>
          <a:p>
            <a:r>
              <a:rPr lang="en-US" dirty="0"/>
              <a:t>There are many variants of the Fourier Transform but all work off the same basic principle.</a:t>
            </a:r>
          </a:p>
          <a:p>
            <a:r>
              <a:rPr lang="en-US" dirty="0"/>
              <a:t>Continuous signals must be sampled to use the Fourier Transform algorithm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834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5586A-28B3-0142-B5AB-21EABDE07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 Transform</a:t>
            </a:r>
          </a:p>
        </p:txBody>
      </p: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D9664CA7-50BB-6145-9B2D-F576CC202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548" y="1690688"/>
            <a:ext cx="8224904" cy="478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523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DDE4F-96DD-E54F-81F1-C2DA7A318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Literature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6CD56-5477-504B-93B1-3530F699EC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Study of literature for this project started broadly</a:t>
            </a:r>
          </a:p>
          <a:p>
            <a:r>
              <a:rPr lang="en-US" dirty="0"/>
              <a:t>Work conducted by </a:t>
            </a:r>
            <a:r>
              <a:rPr lang="en-US" dirty="0" err="1"/>
              <a:t>Therrick</a:t>
            </a:r>
            <a:r>
              <a:rPr lang="en-US" dirty="0"/>
              <a:t>-Ari Anderson at Lincoln University studied musical instrument identification by using neural networks [1] </a:t>
            </a:r>
          </a:p>
          <a:p>
            <a:r>
              <a:rPr lang="en-US" dirty="0"/>
              <a:t>The data processing included the use of Fourier Transforms</a:t>
            </a:r>
          </a:p>
          <a:p>
            <a:r>
              <a:rPr lang="en-US" dirty="0"/>
              <a:t>This was a good start, as it showed justification to use FTs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067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DDE4F-96DD-E54F-81F1-C2DA7A318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Literature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6CD56-5477-504B-93B1-3530F699EC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more recent and relevant study conducted at the Department of Computer Science and Engineering at National Cheng-Kung University explored quantitative evaluation of violin performance by means of signal processing [2] </a:t>
            </a:r>
          </a:p>
          <a:p>
            <a:r>
              <a:rPr lang="en-US" dirty="0"/>
              <a:t>This study solely used Fourier Transforms to study how pitch variation and characteristics of vibrato affect a violinist’s performance</a:t>
            </a:r>
          </a:p>
          <a:p>
            <a:r>
              <a:rPr lang="en-US" dirty="0"/>
              <a:t>This was enough justification to proceed with the Fourier Transform as the algorithm for this project</a:t>
            </a:r>
          </a:p>
        </p:txBody>
      </p:sp>
    </p:spTree>
    <p:extLst>
      <p:ext uri="{BB962C8B-B14F-4D97-AF65-F5344CB8AC3E}">
        <p14:creationId xmlns:p14="http://schemas.microsoft.com/office/powerpoint/2010/main" val="975473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DDE4F-96DD-E54F-81F1-C2DA7A318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 and Processing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6CD56-5477-504B-93B1-3530F699EC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instruments were acquired and recorded (n=4).</a:t>
            </a:r>
          </a:p>
          <a:p>
            <a:r>
              <a:rPr lang="en-US" dirty="0"/>
              <a:t>This is not ideal, as a much larger sample size would be needed to make any solid judgements</a:t>
            </a:r>
          </a:p>
          <a:p>
            <a:r>
              <a:rPr lang="en-US" dirty="0"/>
              <a:t>Sample size for this study is limited by practicality and availability of material</a:t>
            </a:r>
          </a:p>
          <a:p>
            <a:r>
              <a:rPr lang="en-US" dirty="0"/>
              <a:t>General claims about the data and its trends can still be made </a:t>
            </a:r>
          </a:p>
        </p:txBody>
      </p:sp>
    </p:spTree>
    <p:extLst>
      <p:ext uri="{BB962C8B-B14F-4D97-AF65-F5344CB8AC3E}">
        <p14:creationId xmlns:p14="http://schemas.microsoft.com/office/powerpoint/2010/main" val="3168617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DDE4F-96DD-E54F-81F1-C2DA7A318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 and Processing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6CD56-5477-504B-93B1-3530F699EC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instrument, the open strings were recorded both plucked and bowed</a:t>
            </a:r>
          </a:p>
          <a:p>
            <a:r>
              <a:rPr lang="en-US" dirty="0"/>
              <a:t>Three octave G major scale was recorded both plucked and bowed for all instruments</a:t>
            </a:r>
          </a:p>
          <a:p>
            <a:r>
              <a:rPr lang="en-US" dirty="0"/>
              <a:t>Open string harmonics were also recorded as these should contain high frequency information</a:t>
            </a:r>
          </a:p>
        </p:txBody>
      </p:sp>
    </p:spTree>
    <p:extLst>
      <p:ext uri="{BB962C8B-B14F-4D97-AF65-F5344CB8AC3E}">
        <p14:creationId xmlns:p14="http://schemas.microsoft.com/office/powerpoint/2010/main" val="3209760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DDE4F-96DD-E54F-81F1-C2DA7A318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 and Processing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6CD56-5477-504B-93B1-3530F699EC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 goal in the data processing was to find harmonics and their intensities</a:t>
            </a:r>
          </a:p>
          <a:p>
            <a:pPr lvl="1"/>
            <a:r>
              <a:rPr lang="en-US" dirty="0"/>
              <a:t>Harmonics are frequencies that are integer multiples of the fundamental frequency </a:t>
            </a:r>
          </a:p>
          <a:p>
            <a:pPr lvl="1"/>
            <a:r>
              <a:rPr lang="en-US" dirty="0"/>
              <a:t>For A4, the fundamental frequency is 440 Hz, making the first harmonic 880 Hz.</a:t>
            </a:r>
          </a:p>
          <a:p>
            <a:r>
              <a:rPr lang="en-US" dirty="0"/>
              <a:t>The Fourier Transform algorithm returns the entire frequency spectrum, not just the harmonics</a:t>
            </a:r>
          </a:p>
        </p:txBody>
      </p:sp>
    </p:spTree>
    <p:extLst>
      <p:ext uri="{BB962C8B-B14F-4D97-AF65-F5344CB8AC3E}">
        <p14:creationId xmlns:p14="http://schemas.microsoft.com/office/powerpoint/2010/main" val="2887143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DDE4F-96DD-E54F-81F1-C2DA7A318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5" name="Picture 4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831253D8-6C5C-5048-B2A7-62DB1C2AC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407" y="1286555"/>
            <a:ext cx="5713186" cy="428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448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DDE4F-96DD-E54F-81F1-C2DA7A318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65DD8473-4237-A24C-B9D4-CD8AAA2EB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7640" y="1427730"/>
            <a:ext cx="5336720" cy="400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47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DDE4F-96DD-E54F-81F1-C2DA7A318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6CD56-5477-504B-93B1-3530F699EC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Harmonic intensities were extracted from the initial outputs to filter irrelevant information. </a:t>
            </a:r>
          </a:p>
          <a:p>
            <a:r>
              <a:rPr lang="en-US" dirty="0"/>
              <a:t>Instruments were compared across and among price ranges to determine if any general trends or patterns could be observed.</a:t>
            </a:r>
          </a:p>
          <a:p>
            <a:r>
              <a:rPr lang="en-US" dirty="0"/>
              <a:t>In final comparison, it was found that the open G string and open E string harmonics of a violin were a good tell of the quality of the instrument.</a:t>
            </a:r>
          </a:p>
          <a:p>
            <a:r>
              <a:rPr lang="en-US" dirty="0"/>
              <a:t>More data would be needed make any more specific and conclusive statements.</a:t>
            </a:r>
          </a:p>
        </p:txBody>
      </p:sp>
    </p:spTree>
    <p:extLst>
      <p:ext uri="{BB962C8B-B14F-4D97-AF65-F5344CB8AC3E}">
        <p14:creationId xmlns:p14="http://schemas.microsoft.com/office/powerpoint/2010/main" val="3697513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DDE4F-96DD-E54F-81F1-C2DA7A318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5" name="Picture 4" descr="Chart, histogram&#10;&#10;Description automatically generated with medium confidence">
            <a:extLst>
              <a:ext uri="{FF2B5EF4-FFF2-40B4-BE49-F238E27FC236}">
                <a16:creationId xmlns:a16="http://schemas.microsoft.com/office/drawing/2014/main" id="{85C723A0-F24E-854F-BB3E-FF52F6276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528" y="1021896"/>
            <a:ext cx="6418943" cy="4814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898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DDE4F-96DD-E54F-81F1-C2DA7A318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0BA813-443F-C345-825F-D4A9D517A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086" y="1338218"/>
            <a:ext cx="8969828" cy="500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664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DDE4F-96DD-E54F-81F1-C2DA7A318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6CD56-5477-504B-93B1-3530F699EC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TimesNewRomanPSMT"/>
              </a:rPr>
              <a:t>T. -A. Anderson, "Musical instrument classification utilizing a neural network," 2017 12th International Conference on Computer Science and Education (ICCSE), 2017, pp. 163-166, </a:t>
            </a:r>
            <a:r>
              <a:rPr lang="en-US" sz="1800" dirty="0" err="1">
                <a:effectLst/>
                <a:latin typeface="TimesNewRomanPSMT"/>
              </a:rPr>
              <a:t>doi</a:t>
            </a:r>
            <a:r>
              <a:rPr lang="en-US" sz="1800" dirty="0">
                <a:effectLst/>
                <a:latin typeface="TimesNewRomanPSMT"/>
              </a:rPr>
              <a:t>: 10.1109/ICCSE.2017.8085482. </a:t>
            </a:r>
            <a:endParaRPr lang="en-US" dirty="0"/>
          </a:p>
          <a:p>
            <a:r>
              <a:rPr lang="en-US" sz="1800" dirty="0">
                <a:effectLst/>
                <a:latin typeface="TimesNewRomanPSMT"/>
              </a:rPr>
              <a:t>Y. Lin, W. -C. Chang and A. W. Y. </a:t>
            </a:r>
            <a:r>
              <a:rPr lang="en-US" sz="1800" dirty="0" err="1">
                <a:effectLst/>
                <a:latin typeface="TimesNewRomanPSMT"/>
              </a:rPr>
              <a:t>Su</a:t>
            </a:r>
            <a:r>
              <a:rPr lang="en-US" sz="1800" dirty="0">
                <a:effectLst/>
                <a:latin typeface="TimesNewRomanPSMT"/>
              </a:rPr>
              <a:t>, "Quantitative evaluation of violin solo performance," 2013 Asia-Pacific Signal and Information Processing Association Annual Summit and Conference, 2013, pp. 1-6, </a:t>
            </a:r>
            <a:r>
              <a:rPr lang="en-US" sz="1800" dirty="0" err="1">
                <a:effectLst/>
                <a:latin typeface="TimesNewRomanPSMT"/>
              </a:rPr>
              <a:t>doi</a:t>
            </a:r>
            <a:r>
              <a:rPr lang="en-US" sz="1800" dirty="0">
                <a:effectLst/>
                <a:latin typeface="TimesNewRomanPSMT"/>
              </a:rPr>
              <a:t>: 10.1109/APSIPA.2013.6694296.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715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DDE4F-96DD-E54F-81F1-C2DA7A318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67934931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708</Words>
  <Application>Microsoft Macintosh PowerPoint</Application>
  <PresentationFormat>Widescreen</PresentationFormat>
  <Paragraphs>59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Oswald</vt:lpstr>
      <vt:lpstr>TimesNewRomanPSMT</vt:lpstr>
      <vt:lpstr>1_Office Theme</vt:lpstr>
      <vt:lpstr>PowerPoint Presentation</vt:lpstr>
      <vt:lpstr>Signal Processing Overview</vt:lpstr>
      <vt:lpstr>Signal Processing Overview</vt:lpstr>
      <vt:lpstr>Signal Processing Overview</vt:lpstr>
      <vt:lpstr>Signal Processing Overview</vt:lpstr>
      <vt:lpstr>Fourier Transform</vt:lpstr>
      <vt:lpstr>Review of Literature</vt:lpstr>
      <vt:lpstr>Review of Literature</vt:lpstr>
      <vt:lpstr>Data Collection and Processing</vt:lpstr>
      <vt:lpstr>Data Collection and Processing</vt:lpstr>
      <vt:lpstr>Data Collection and Processing</vt:lpstr>
      <vt:lpstr>Results</vt:lpstr>
      <vt:lpstr>Results</vt:lpstr>
      <vt:lpstr>Results</vt:lpstr>
      <vt:lpstr>Results</vt:lpstr>
      <vt:lpstr>Results</vt:lpstr>
      <vt:lpstr>References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Moosa Azfar</cp:lastModifiedBy>
  <cp:revision>25</cp:revision>
  <dcterms:modified xsi:type="dcterms:W3CDTF">2023-04-17T18:14:27Z</dcterms:modified>
</cp:coreProperties>
</file>